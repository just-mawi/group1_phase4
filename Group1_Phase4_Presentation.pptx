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78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" y="692050"/>
            <a:ext cx="12188952" cy="473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505" y="-77392"/>
            <a:ext cx="109820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</a:rPr>
              <a:t>Movie Recommendation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505" y="5532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00B4D8"/>
                </a:solidFill>
              </a:rPr>
              <a:t>Personalized Viewing for a Next-Gen Streaming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505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 err="1">
                <a:solidFill>
                  <a:srgbClr val="CCCCCC"/>
                </a:solidFill>
              </a:rPr>
              <a:t>MovieLens</a:t>
            </a:r>
            <a:r>
              <a:rPr sz="1300" b="0" i="0" dirty="0">
                <a:solidFill>
                  <a:srgbClr val="CCCCCC"/>
                </a:solidFill>
              </a:rPr>
              <a:t> Dataset  •  SVD  •  TF-IDF  •  Hybrid Routing  •  </a:t>
            </a:r>
            <a:r>
              <a:rPr sz="1300" b="0" i="0" dirty="0" err="1">
                <a:solidFill>
                  <a:srgbClr val="CCCCCC"/>
                </a:solidFill>
              </a:rPr>
              <a:t>Streamlit</a:t>
            </a:r>
            <a:endParaRPr sz="1300" b="0" i="0" dirty="0">
              <a:solidFill>
                <a:srgbClr val="CCCCCC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Why does personalization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474720" cy="2011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73352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39112"/>
            <a:ext cx="32918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 new streaming platform needs to compete with Netflix &amp; Disney+.
Without personalization, users churn within the first few sessions.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600200"/>
            <a:ext cx="3749039" cy="2011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167335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The Cost of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39112"/>
            <a:ext cx="356615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Acquiring a new subscriber costs 5–7× more than retaining one.
Poor recommendations = lost revenue and brand damage.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00200"/>
            <a:ext cx="3840480" cy="2011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16733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039112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 multi-stage recommendation engine that adapts to every user — from first login to long-term resident.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94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Goal: Increase user retention by delivering the right movie to the right user at the right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Dataset: MovieLens — 100,000+ ratings across 9,000+ movies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45152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Methodology: CRISP-DM (Business Understanding → Deployment)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92624"/>
            <a:ext cx="10972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Deployment: Interactive Streamlit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&amp;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MovieLens 100K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65176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0A10"/>
                </a:solidFill>
              </a:rPr>
              <a:t>100,000+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User Ratings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00200"/>
            <a:ext cx="265176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66420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0A10"/>
                </a:solidFill>
              </a:rPr>
              <a:t>9,000+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Unique Movies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265176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66420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0A10"/>
                </a:solidFill>
              </a:rPr>
              <a:t>600+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Active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600200"/>
            <a:ext cx="265176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66420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50A10"/>
                </a:solidFill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Genre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54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Key EDA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Rating distribution is left-skewed — users tend to rate movies they enjoyed (avg ≈ 3.5)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50208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Drama, Comedy, and Thriller dominate the catalog; niche genres are underrepresented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34256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Power users (top 5%) account for ~30% of all ratings — classic long-tail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18304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~40% of users have fewer than 10 ratings, confirming a significant cold-start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02352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User tags (e.g. 'atmospheric', 'twist ending') provide rich semantic signals for TF-IDF</a:t>
            </a:r>
          </a:p>
        </p:txBody>
      </p:sp>
      <p:pic>
        <p:nvPicPr>
          <p:cNvPr id="23" name="Picture 22" descr="fig_rating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017520"/>
            <a:ext cx="54864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EDA — Visual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Genre distribution &amp; most-rated movies</a:t>
            </a:r>
          </a:p>
        </p:txBody>
      </p:sp>
      <p:pic>
        <p:nvPicPr>
          <p:cNvPr id="5" name="Picture 4" descr="fig_genr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00200"/>
            <a:ext cx="5760720" cy="5029200"/>
          </a:xfrm>
          <a:prstGeom prst="rect">
            <a:avLst/>
          </a:prstGeom>
        </p:spPr>
      </p:pic>
      <p:pic>
        <p:nvPicPr>
          <p:cNvPr id="6" name="Picture 5" descr="fig_top_mov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 — The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One engine, three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74519"/>
            <a:ext cx="1152144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User Login  →  Count Ratings  →  Router  →  Select Strategy  →  Return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14600"/>
            <a:ext cx="3657600" cy="347472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3657600" cy="73152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New / Near-Cold
(0–10 ratings)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Popularity-Based
+
Content-Based (TF-IDF)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Ensures new users see
relevant content immediately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514600"/>
            <a:ext cx="3657600" cy="347472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2514600"/>
            <a:ext cx="3657600" cy="73152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6060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Early User
(10–50 ratings)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015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Hybrid Model
(SVD + TF-IDF, α-weighted)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2519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Balances exploration
with personalization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514600"/>
            <a:ext cx="3657600" cy="347472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514600"/>
            <a:ext cx="3657600" cy="73152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6060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Resident User
(50+ ratings)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015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Collaborative Filtering
(Optimized SVD)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519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Full latent-factor
personalization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α = 0.7 (SVD weight) in Hybrid mode — tuned to favour collaborative signal while preserving content diversity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Algorithms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How each model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577840" cy="21488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5778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6916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SVD
(Collaborative Filtering)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945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Decomposes the user-item matrix into latent factors
• Captures hidden taste patterns (e.g. 'likes slow-burn dramas')
• Trained with SGD; regularised to prevent overfitting
• Best RMSE: 0.861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00200"/>
            <a:ext cx="5577840" cy="21488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55778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6916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TF-IDF
(Content-Based)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Builds a feature vector from genres + user tags per movie
• Cosine similarity between user profile and all movies
• User profile = weighted average of rated-movie vectors
• Ideal for cold-start &amp; niche discovery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5577840" cy="21488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55778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402335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Hybrid
(α-Weighted Blend)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5262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Final score = α × SVD_norm + (1−α) × Content_norm
• α = 0.7 (SVD dominates, content adds diversity)
• Explanation engine: labels each rec with a human reason
• Smooth transition from cold-start to full CF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577840" cy="21488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5778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402335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KNN
(User-Based CF)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262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Finds k nearest neighbours by rating similarity
• Aggregates neighbour ratings for unseen movies
• RMSE: 0.898 — solid but slower than SVD
• Useful for community-based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RMSE (lower = better)  •  NDCG@10 (higher = better)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11430000" cy="502920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2763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2763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NDCG@10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276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Best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11430000" cy="621792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2199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50A10"/>
                </a:solidFill>
              </a:rPr>
              <a:t>SVD (Collaborative)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219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50A10"/>
                </a:solidFill>
              </a:rPr>
              <a:t>0.861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2219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50A10"/>
                </a:solidFill>
              </a:rPr>
              <a:t>0.953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2199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50A10"/>
                </a:solidFill>
              </a:rPr>
              <a:t>Active / Resident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07208"/>
            <a:ext cx="11430000" cy="62179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036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KNN (User-Based CF)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8036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88036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0.948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803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Community-driven recs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65576"/>
            <a:ext cx="11430000" cy="621792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53872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Hybrid (SVD + TF-IDF)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5387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5387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0.554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3872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Early users (10–50 ratings)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23944"/>
            <a:ext cx="11430000" cy="62179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19709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Content-Based (TF-IDF)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19709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19709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0.527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9709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New users / cold-start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46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SVD achieves the best RMSE (0.861) and NDCG@10 (0.953) — selected as the primary engine for resident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8" y="318052"/>
            <a:ext cx="11430000" cy="614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1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Sample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SVD top-5 predictions for selected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3749039" cy="438912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6276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User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84831"/>
            <a:ext cx="3749039" cy="8229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21214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 Shawshank Redemption (1994)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23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Crime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53511"/>
            <a:ext cx="3749039" cy="8229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299008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 the Name of the Father (1993)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9242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39242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Drama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22191"/>
            <a:ext cx="3749039" cy="8229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3858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Dr. Strangelove (1964)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261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261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Comedy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90871"/>
            <a:ext cx="3749039" cy="8229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79" y="472744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Rear Window (1954)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512978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5.0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12978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Mystery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559552"/>
            <a:ext cx="3749039" cy="8229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79" y="55961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Casablanca (1942)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998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998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Drama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1600200"/>
            <a:ext cx="3749039" cy="438912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9392" y="16276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User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2084831"/>
            <a:ext cx="3749039" cy="8229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70831" y="21214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Lawrence of Arabia (1962)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2523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Adventure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2953511"/>
            <a:ext cx="3749039" cy="8229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70831" y="299008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There Will Be Blood (2007)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1" y="339242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339242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Drama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9392" y="3822191"/>
            <a:ext cx="3749039" cy="8229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1" y="3858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 Shawshank Redemption (1994)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1" y="4261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4.61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4261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Crime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9392" y="4690871"/>
            <a:ext cx="3749039" cy="8229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70831" y="472744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 Philadelphia Story (1940)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0831" y="512978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08192" y="512978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Comedy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5559552"/>
            <a:ext cx="3749039" cy="8229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70831" y="55961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Dr. Strangelove (1964)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5998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4.57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08192" y="5998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Comedy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38744" y="1600200"/>
            <a:ext cx="3749039" cy="438912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38744" y="16276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User 300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38744" y="2084831"/>
            <a:ext cx="3749039" cy="8229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30183" y="21214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There Will Be Blood (2007)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0183" y="2523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4.61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67544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Drama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38744" y="2953511"/>
            <a:ext cx="3749039" cy="8229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30183" y="299008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 Shawshank Redemption (1994)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0183" y="339242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4.55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67544" y="339242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Crime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38744" y="3822191"/>
            <a:ext cx="3749039" cy="8229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30183" y="38587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Three Billboards Outside Ebbing (2017)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0183" y="4261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67544" y="4261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Crime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38744" y="4690871"/>
            <a:ext cx="3749039" cy="8229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30183" y="472744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Citizen Kane (1941)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30183" y="512978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4.53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67544" y="512978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Drama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38744" y="5559552"/>
            <a:ext cx="3749039" cy="822960"/>
          </a:xfrm>
          <a:prstGeom prst="rect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30183" y="55961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Ghost in the Shell (1995)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30183" y="5998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0A10"/>
                </a:solidFill>
              </a:rPr>
              <a:t>★ 4.52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67544" y="5998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Animation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Interactive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57784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User ID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Enter any user ID to instantly retrieve personalised recommendations.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00200"/>
            <a:ext cx="557784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Recommendation Slider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Choose between 5 and 20 recommendations per session.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557784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Onboarding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New users rate 10 popular movies to bootstrap their content profile.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557784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10896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Automatic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The router silently selects the best algorithm based on rating history.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17720"/>
            <a:ext cx="557784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7091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Feedback Buttons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6635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Users mark each recommendation as Interested or Not Interested.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17720"/>
            <a:ext cx="5577840" cy="13716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6177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7091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Dual-Column Layout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6635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Cold-start users see Popular Picks alongside Content-Based picks side by side.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172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Run locally:  streamlit run app.py   |   Dependencies: streamlit, pandas, numpy, scikit-learn, scikit-surprise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What we built and where to go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394960" cy="438912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94960" cy="64008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2120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SVD delivers NDCG@10 = 0.953 — near-perfect ranking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0048"/>
            <a:ext cx="52120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Cold-start fully mitigated via popularity + TF-IDF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45536"/>
            <a:ext cx="52120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Hybrid model bridges the gap for early-stage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21024"/>
            <a:ext cx="52120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Router logic adapts seamlessly across all user lifecycle stages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2"/>
            <a:ext cx="52120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End-to-end deployment via Streamlit with real-time feedback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52120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CRISP-DM methodology ensures reproducible, business-aligned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00200"/>
            <a:ext cx="5486400" cy="4389120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600200"/>
            <a:ext cx="54864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6642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0A10"/>
                </a:solidFill>
              </a:rPr>
              <a:t>Future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Deep Learning: Neural Collaborative Filtering (NCF) or two-tower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70048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Real-time retraining pipeline with streaming user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45536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A/B testing framework to measure retention lift in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21024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Incorporate implicit feedback (watch time, re-watches, skips)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96512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Expand content features: cast, director, synopsis 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Cloud deployment on AWS (SageMaker + Lambda + API Gateway)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87452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73152"/>
          </a:xfrm>
          <a:prstGeom prst="rect">
            <a:avLst/>
          </a:prstGeom>
          <a:solidFill>
            <a:srgbClr val="E5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Group 1  —  Movie Recommendation System  —  Phase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CCCCCC"/>
                </a:solidFill>
              </a:rPr>
              <a:t>Questions</a:t>
            </a:r>
            <a:r>
              <a:rPr lang="en-US" sz="1600" b="0" i="1" dirty="0">
                <a:solidFill>
                  <a:srgbClr val="CCCCCC"/>
                </a:solidFill>
              </a:rPr>
              <a:t>?</a:t>
            </a:r>
            <a:endParaRPr sz="1600" b="0" i="1" dirty="0">
              <a:solidFill>
                <a:srgbClr val="CCCCC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45920" y="4937760"/>
            <a:ext cx="1920240" cy="12801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50109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0A10"/>
                </a:solidFill>
              </a:rPr>
              <a:t>0.861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4937760"/>
            <a:ext cx="1920240" cy="12801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0" y="50109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0A10"/>
                </a:solidFill>
              </a:rPr>
              <a:t>0.953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NDCG@10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937760"/>
            <a:ext cx="1920240" cy="12801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50109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0A10"/>
                </a:solidFill>
              </a:rPr>
              <a:t>100K+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Ratings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937760"/>
            <a:ext cx="1920240" cy="12801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50109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50A10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1076</Words>
  <Application>Microsoft Office PowerPoint</Application>
  <PresentationFormat>Custom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Motalo Musesya</cp:lastModifiedBy>
  <cp:revision>2</cp:revision>
  <dcterms:created xsi:type="dcterms:W3CDTF">2013-01-27T09:14:16Z</dcterms:created>
  <dcterms:modified xsi:type="dcterms:W3CDTF">2026-04-27T16:15:14Z</dcterms:modified>
  <cp:category/>
</cp:coreProperties>
</file>